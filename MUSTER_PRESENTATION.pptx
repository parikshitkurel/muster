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15974" cy="4572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"/>
            <a:ext cx="1005840" cy="329184"/>
          </a:xfrm>
          <a:prstGeom prst="round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Inter"/>
              </a:defRPr>
            </a:pPr>
            <a:r>
              <a:t>MIT India Hackathon 2026 · Problem Statement: PSE15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28016"/>
            <a:ext cx="82296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01 / 12</a:t>
            </a:r>
          </a:p>
        </p:txBody>
      </p:sp>
      <p:pic>
        <p:nvPicPr>
          <p:cNvPr id="8" name="Picture 7" descr="MUS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146304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34640" y="146304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Consolas"/>
              </a:defRPr>
            </a:pPr>
            <a:r>
              <a:t>MIT INDIA HACKATHON 2026 · PSE15</a:t>
            </a:r>
          </a:p>
          <a:p>
            <a:pPr>
              <a:defRPr sz="56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  <a:p>
            <a:pPr>
              <a:defRPr sz="2200">
                <a:solidFill>
                  <a:srgbClr val="CBD5E1"/>
                </a:solidFill>
                <a:latin typeface="Inter"/>
              </a:defRPr>
            </a:pPr>
            <a:r>
              <a:t>AI-Powered Crew Assembly for Event Staffing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389120"/>
            <a:ext cx="310896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Flutter Web + Android + 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389120"/>
            <a:ext cx="310896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Supabase PostgreSQL + RLS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389120"/>
            <a:ext cx="310896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Google Gemini API (Edge)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"/>
            <a:ext cx="1005840" cy="329184"/>
          </a:xfrm>
          <a:prstGeom prst="round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Inter"/>
              </a:defRPr>
            </a:pPr>
            <a:r>
              <a:t>MIT India Hackathon 2026 · Problem Statement: PSE15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28016"/>
            <a:ext cx="82296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1F34"/>
                </a:solidFill>
                <a:latin typeface="Consolas"/>
              </a:defRPr>
            </a:pPr>
            <a:r>
              <a:t>THE REALITY OF EVENT STAFFING</a:t>
            </a:r>
          </a:p>
          <a:p>
            <a:pPr>
              <a:defRPr sz="3200" b="1">
                <a:solidFill>
                  <a:srgbClr val="0F172A"/>
                </a:solidFill>
                <a:latin typeface="Inter"/>
              </a:defRPr>
            </a:pPr>
            <a:r>
              <a:t>Finding a crew is harder than it looks.</a:t>
            </a:r>
          </a:p>
          <a:p>
            <a:pPr>
              <a:defRPr sz="1600">
                <a:solidFill>
                  <a:srgbClr val="475569"/>
                </a:solidFill>
                <a:latin typeface="Inter"/>
              </a:defRPr>
            </a:pPr>
            <a:r>
              <a:t>Organizers have to balance all of these at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94560"/>
            <a:ext cx="4937760" cy="3931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2423160"/>
            <a:ext cx="43891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A31F34"/>
                </a:solidFill>
                <a:latin typeface="Inter"/>
              </a:defRPr>
            </a:pPr>
            <a:r>
              <a:t>• Skills &amp; Specific Roles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118104"/>
            <a:ext cx="43891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97706"/>
                </a:solidFill>
                <a:latin typeface="Inter"/>
              </a:defRPr>
            </a:pPr>
            <a:r>
              <a:t>• Strict Financial Budget Cap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813048"/>
            <a:ext cx="43891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34155"/>
                </a:solidFill>
                <a:latin typeface="Inter"/>
              </a:defRPr>
            </a:pPr>
            <a:r>
              <a:t>• Date &amp; Shift Availability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4507992"/>
            <a:ext cx="43891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36D4F"/>
                </a:solidFill>
                <a:latin typeface="Inter"/>
              </a:defRPr>
            </a:pPr>
            <a:r>
              <a:t>• Location &amp; Travel Distance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5202936"/>
            <a:ext cx="43891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34155"/>
                </a:solidFill>
                <a:latin typeface="Inter"/>
              </a:defRPr>
            </a:pPr>
            <a:r>
              <a:t>• Historical Reliability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0292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400" b="1">
                <a:solidFill>
                  <a:srgbClr val="C0392B"/>
                </a:solidFill>
                <a:latin typeface="Inter"/>
              </a:defRPr>
            </a:pPr>
            <a:r>
              <a:t>Single Missing Role = Event Failure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t>Missing just one Dante sound engineer or stage coordinator puts the entire live event at risk.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109728" cy="1170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3520439"/>
            <a:ext cx="50292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400" b="1">
                <a:solidFill>
                  <a:srgbClr val="C0392B"/>
                </a:solidFill>
                <a:latin typeface="Inter"/>
              </a:defRPr>
            </a:pPr>
            <a:r>
              <a:t>Unmonitored Rate Spikes = Budget Overruns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t>Hiring people one by one through phone calls creates rate compounding that breaches the organizer's financial ceiling.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520439"/>
            <a:ext cx="109728" cy="1170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4846320"/>
            <a:ext cx="50292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400" b="1">
                <a:solidFill>
                  <a:srgbClr val="C0392B"/>
                </a:solidFill>
                <a:latin typeface="Inter"/>
              </a:defRPr>
            </a:pPr>
            <a:r>
              <a:t>No-Show Risk on Event Morning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t>Unvetted freelance contacts suffer high no-show rates with zero accountability or standby alternatives.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846320"/>
            <a:ext cx="109728" cy="1170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047923" cy="4572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"/>
            <a:ext cx="1005840" cy="329184"/>
          </a:xfrm>
          <a:prstGeom prst="round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Inter"/>
              </a:defRPr>
            </a:pPr>
            <a:r>
              <a:t>MIT India Hackathon 2026 · Problem Statement: PSE15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28016"/>
            <a:ext cx="82296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1F34"/>
                </a:solidFill>
                <a:latin typeface="Consolas"/>
              </a:defRPr>
            </a:pPr>
            <a:r>
              <a:t>CURRENT PRACTICES</a:t>
            </a:r>
          </a:p>
          <a:p>
            <a:pPr>
              <a:defRPr sz="3200" b="1">
                <a:solidFill>
                  <a:srgbClr val="0F172A"/>
                </a:solidFill>
                <a:latin typeface="Inter"/>
              </a:defRPr>
            </a:pPr>
            <a:r>
              <a:t>Too much manual work.</a:t>
            </a:r>
          </a:p>
          <a:p>
            <a:pPr>
              <a:defRPr sz="1600">
                <a:solidFill>
                  <a:srgbClr val="475569"/>
                </a:solidFill>
                <a:latin typeface="Inter"/>
              </a:defRPr>
            </a:pPr>
            <a:r>
              <a:t>When organizers hire manually across fragmented chats, it takes days and errors are easy to make.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94560"/>
            <a:ext cx="1033272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   WhatsApp Chats   +   Spreadsheets   +   Phone Calls   +   Manual Math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74720"/>
            <a:ext cx="32918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1600" b="1">
                <a:solidFill>
                  <a:srgbClr val="0F172A"/>
                </a:solidFill>
                <a:latin typeface="Inter"/>
              </a:defRPr>
            </a:pPr>
            <a:r>
              <a:t>Slow Confirmation</a:t>
            </a:r>
          </a:p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Takes 3 to 5 days to assemble a 6-person crew. Candidates drop out while waiting for responses.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474720"/>
            <a:ext cx="3291840" cy="9144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3474720"/>
            <a:ext cx="32918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1600" b="1">
                <a:solidFill>
                  <a:srgbClr val="0F172A"/>
                </a:solidFill>
                <a:latin typeface="Inter"/>
              </a:defRPr>
            </a:pPr>
            <a:r>
              <a:t>Unchecked Rates</a:t>
            </a:r>
          </a:p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Manual rate calculations often overlook overtime, lead fees, or transit stipends, blowing the budget.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3474720"/>
            <a:ext cx="329184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3474720"/>
            <a:ext cx="32918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1600" b="1">
                <a:solidFill>
                  <a:srgbClr val="0F172A"/>
                </a:solidFill>
                <a:latin typeface="Inter"/>
              </a:defRPr>
            </a:pPr>
            <a:r>
              <a:t>Zero Accountability</a:t>
            </a:r>
          </a:p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No verified reliability score. Organizers rely on blind trust with short-notice freelancers.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474720"/>
            <a:ext cx="3291840" cy="914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"/>
            <a:ext cx="1005840" cy="329184"/>
          </a:xfrm>
          <a:prstGeom prst="round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Inter"/>
              </a:defRPr>
            </a:pPr>
            <a:r>
              <a:t>MIT India Hackathon 2026 · Problem Statement: PSE15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28016"/>
            <a:ext cx="82296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nsolas"/>
              </a:defRPr>
            </a:pPr>
            <a:r>
              <a:t>THE MUSTER PLATFORM</a:t>
            </a:r>
          </a:p>
          <a:p>
            <a:pPr>
              <a:defRPr sz="3600" b="1">
                <a:solidFill>
                  <a:srgbClr val="FFFFFF"/>
                </a:solidFill>
                <a:latin typeface="Inter"/>
              </a:defRPr>
            </a:pPr>
            <a:r>
              <a:t>Meet MUSTER.</a:t>
            </a:r>
          </a:p>
          <a:p>
            <a:pPr>
              <a:defRPr sz="1800">
                <a:solidFill>
                  <a:srgbClr val="CBD5E1"/>
                </a:solidFill>
                <a:latin typeface="Inter"/>
              </a:defRPr>
            </a:pPr>
            <a:r>
              <a:t>MUSTER helps organizers find and assemble the right crew for an event.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493776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97706"/>
                </a:solidFill>
                <a:latin typeface="Consolas"/>
              </a:defRPr>
            </a:pPr>
            <a:r>
              <a:t>FOR EVENT ORGANIZERS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✓  Post role quotas, transit radius, and budget limits.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✓  Receive custom hourly bids from vetted freelancers.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✓  Deterministic solver calculates valid crew rosters in seconds.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✓  Plain-English AI explanations for each recommendation.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286000"/>
            <a:ext cx="493776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36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EE7B7"/>
                </a:solidFill>
                <a:latin typeface="Consolas"/>
              </a:defRPr>
            </a:pPr>
            <a:r>
              <a:t>FOR FREELANCERS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✓  Discover shifts within daily travel radius.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✓  Submit custom hourly rate bids directly.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✓  Live status updates on application review.</a:t>
            </a:r>
          </a:p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✓  Verified digital QR dispatch entry pass on selection.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79873" cy="4572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"/>
            <a:ext cx="1005840" cy="329184"/>
          </a:xfrm>
          <a:prstGeom prst="round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Inter"/>
              </a:defRPr>
            </a:pPr>
            <a:r>
              <a:t>MIT India Hackathon 2026 · Problem Statement: PSE15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28016"/>
            <a:ext cx="82296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1F34"/>
                </a:solidFill>
                <a:latin typeface="Consolas"/>
              </a:defRPr>
            </a:pPr>
            <a:r>
              <a:t>THE 5-STEP WORKFLOW</a:t>
            </a:r>
          </a:p>
          <a:p>
            <a:pPr>
              <a:defRPr sz="3200" b="1">
                <a:solidFill>
                  <a:srgbClr val="0F172A"/>
                </a:solidFill>
                <a:latin typeface="Inter"/>
              </a:defRPr>
            </a:pPr>
            <a:r>
              <a:t>How it works.</a:t>
            </a:r>
          </a:p>
          <a:p>
            <a:pPr>
              <a:defRPr sz="1600">
                <a:solidFill>
                  <a:srgbClr val="475569"/>
                </a:solidFill>
                <a:latin typeface="Inter"/>
              </a:defRPr>
            </a:pPr>
            <a:r>
              <a:t>A clear step-by-step path from an open brief to confirmed on-site staff.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19202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400" b="1">
                <a:solidFill>
                  <a:srgbClr val="A31F34"/>
                </a:solidFill>
                <a:latin typeface="Inter"/>
              </a:defRPr>
            </a:pPr>
            <a:r>
              <a:t>1. Create Event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t>Set roles, budget cap, and location.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1920240" cy="109728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17520" y="2286000"/>
            <a:ext cx="19202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400" b="1">
                <a:solidFill>
                  <a:srgbClr val="334155"/>
                </a:solidFill>
                <a:latin typeface="Inter"/>
              </a:defRPr>
            </a:pPr>
            <a:r>
              <a:t>2. Freelancers Apply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t>Verified crew bid custom hourly rates.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286000"/>
            <a:ext cx="1920240" cy="10972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19202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400" b="1">
                <a:solidFill>
                  <a:srgbClr val="334155"/>
                </a:solidFill>
                <a:latin typeface="Inter"/>
              </a:defRPr>
            </a:pPr>
            <a:r>
              <a:t>3. Compare Pool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t>Filter by role, skills, distance, and rate.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2286000"/>
            <a:ext cx="1920240" cy="10972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23759" y="2286000"/>
            <a:ext cx="19202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400" b="1">
                <a:solidFill>
                  <a:srgbClr val="D97706"/>
                </a:solidFill>
                <a:latin typeface="Inter"/>
              </a:defRPr>
            </a:pPr>
            <a:r>
              <a:t>4. Find Best Crew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t>Solver prunes budget violations with AI rationale.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59" y="2286000"/>
            <a:ext cx="192024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0" y="2286000"/>
            <a:ext cx="19202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400" b="1">
                <a:solidFill>
                  <a:srgbClr val="436D4F"/>
                </a:solidFill>
                <a:latin typeface="Inter"/>
              </a:defRPr>
            </a:pPr>
            <a:r>
              <a:t>5. Approve Roster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t>Lock shifts with atomic PostgreSQL RPC.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2286000"/>
            <a:ext cx="1920240" cy="109728"/>
          </a:xfrm>
          <a:prstGeom prst="rect">
            <a:avLst/>
          </a:prstGeom>
          <a:solidFill>
            <a:srgbClr val="436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"/>
            <a:ext cx="1005840" cy="329184"/>
          </a:xfrm>
          <a:prstGeom prst="round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Inter"/>
              </a:defRPr>
            </a:pPr>
            <a:r>
              <a:t>MIT India Hackathon 2026 · Problem Statement: PSE15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28016"/>
            <a:ext cx="82296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1F34"/>
                </a:solidFill>
                <a:latin typeface="Consolas"/>
              </a:defRPr>
            </a:pPr>
            <a:r>
              <a:t>MULTI-CRITERIA MATCHING WEIGHTS</a:t>
            </a:r>
          </a:p>
          <a:p>
            <a:pPr>
              <a:defRPr sz="3200" b="1">
                <a:solidFill>
                  <a:srgbClr val="0F172A"/>
                </a:solidFill>
                <a:latin typeface="Inter"/>
              </a:defRPr>
            </a:pPr>
            <a:r>
              <a:t>The cheapest person isn't always the best fit.</a:t>
            </a:r>
          </a:p>
          <a:p>
            <a:pPr>
              <a:defRPr sz="1600">
                <a:solidFill>
                  <a:srgbClr val="475569"/>
                </a:solidFill>
                <a:latin typeface="Inter"/>
              </a:defRPr>
            </a:pPr>
            <a:r>
              <a:t>MUSTER balances multiple operational factors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24688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A31F34"/>
                </a:solidFill>
                <a:latin typeface="Inter"/>
              </a:defRPr>
            </a:pPr>
            <a:r>
              <a:t>40%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Skills &amp; Experience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t>Direct alignment with equipment, sound consoles, stage management, and certifications.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286000"/>
            <a:ext cx="24688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436D4F"/>
                </a:solidFill>
                <a:latin typeface="Inter"/>
              </a:defRPr>
            </a:pPr>
            <a:r>
              <a:t>35%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Reliability Rating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t>Verified historical punctuality, event completion track record, and organizer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24688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334155"/>
                </a:solidFill>
                <a:latin typeface="Inter"/>
              </a:defRPr>
            </a:pPr>
            <a:r>
              <a:t>15%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Transit Proximity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t>Distance from venue to guarantee timely arrival without transit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286000"/>
            <a:ext cx="24688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D97706"/>
                </a:solidFill>
                <a:latin typeface="Inter"/>
              </a:defRPr>
            </a:pPr>
            <a:r>
              <a:t>10%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Rate Efficiency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t>Candidate hourly proposal relative to the event budget allocation.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577840"/>
            <a:ext cx="10332720" cy="731520"/>
          </a:xfrm>
          <a:prstGeom prst="roundRect">
            <a:avLst/>
          </a:prstGeom>
          <a:solidFill>
            <a:srgbClr val="EBF2EE"/>
          </a:solidFill>
          <a:ln>
            <a:solidFill>
              <a:srgbClr val="436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36D4F"/>
                </a:solidFill>
                <a:latin typeface="Inter"/>
              </a:defRPr>
            </a:pPr>
            <a:r>
              <a:t>Result: Reliable, skilled crew members who arrive on time and stay within budget.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111822" cy="4572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"/>
            <a:ext cx="1005840" cy="329184"/>
          </a:xfrm>
          <a:prstGeom prst="round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Inter"/>
              </a:defRPr>
            </a:pPr>
            <a:r>
              <a:t>MIT India Hackathon 2026 · Problem Statement: PSE15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28016"/>
            <a:ext cx="82296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nsolas"/>
              </a:defRPr>
            </a:pPr>
            <a:r>
              <a:t>HONEST ARCHITECTURAL SEPARATION</a:t>
            </a:r>
          </a:p>
          <a:p>
            <a:pPr>
              <a:defRPr sz="3200" b="1">
                <a:solidFill>
                  <a:srgbClr val="FFFFFF"/>
                </a:solidFill>
                <a:latin typeface="Inter"/>
              </a:defRPr>
            </a:pPr>
            <a:r>
              <a:t>AI helps. The system checks.</a:t>
            </a:r>
          </a:p>
          <a:p>
            <a:pPr>
              <a:defRPr sz="1600">
                <a:solidFill>
                  <a:srgbClr val="CBD5E1"/>
                </a:solidFill>
                <a:latin typeface="Inter"/>
              </a:defRPr>
            </a:pPr>
            <a:r>
              <a:t>The matching engine checks the rules. Gemini explains the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493776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D97706"/>
                </a:solidFill>
                <a:latin typeface="Consolas"/>
              </a:defRPr>
            </a:pPr>
            <a:r>
              <a:t>DETERMINISTIC MATCHING ENGINE</a:t>
            </a:r>
          </a:p>
          <a:p>
            <a:pPr>
              <a:defRPr sz="2000" b="1">
                <a:solidFill>
                  <a:srgbClr val="FFFFFF"/>
                </a:solidFill>
                <a:latin typeface="Inter"/>
              </a:defRPr>
            </a:pPr>
            <a:r>
              <a:t>Guarantees Hard Rules</a:t>
            </a:r>
          </a:p>
          <a:p>
            <a:pPr>
              <a:defRPr sz="1200">
                <a:solidFill>
                  <a:srgbClr val="E2E8F0"/>
                </a:solidFill>
                <a:latin typeface="Inter"/>
              </a:defRPr>
            </a:pPr>
            <a:r>
              <a:t>•  100% Budget Compliance Guarantee (Cost ≤ Budget)</a:t>
            </a:r>
          </a:p>
          <a:p>
            <a:pPr>
              <a:defRPr sz="1200">
                <a:solidFill>
                  <a:srgbClr val="E2E8F0"/>
                </a:solidFill>
                <a:latin typeface="Inter"/>
              </a:defRPr>
            </a:pPr>
            <a:r>
              <a:t>•  Zero Missing Roles: Fulfills exact role quota requirements</a:t>
            </a:r>
          </a:p>
          <a:p>
            <a:pPr>
              <a:defRPr sz="1200">
                <a:solidFill>
                  <a:srgbClr val="E2E8F0"/>
                </a:solidFill>
                <a:latin typeface="Inter"/>
              </a:defRPr>
            </a:pPr>
            <a:r>
              <a:t>•  Geographic distance constraint enforcement</a:t>
            </a:r>
          </a:p>
          <a:p>
            <a:pPr>
              <a:defRPr sz="1200">
                <a:solidFill>
                  <a:srgbClr val="E2E8F0"/>
                </a:solidFill>
                <a:latin typeface="Inter"/>
              </a:defRPr>
            </a:pPr>
            <a:r>
              <a:t>•  Deterministic: Zero hallucination of fake candidates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286000"/>
            <a:ext cx="493776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A3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DA4AF"/>
                </a:solidFill>
                <a:latin typeface="Consolas"/>
              </a:defRPr>
            </a:pPr>
            <a:r>
              <a:t>GOOGLE GEMINI 3.6 FLASH (EDGE)</a:t>
            </a:r>
          </a:p>
          <a:p>
            <a:pPr>
              <a:defRPr sz="2000" b="1">
                <a:solidFill>
                  <a:srgbClr val="FFFFFF"/>
                </a:solidFill>
                <a:latin typeface="Inter"/>
              </a:defRPr>
            </a:pPr>
            <a:r>
              <a:t>Generates Human Explanations</a:t>
            </a:r>
          </a:p>
          <a:p>
            <a:pPr>
              <a:defRPr sz="1200">
                <a:solidFill>
                  <a:srgbClr val="E2E8F0"/>
                </a:solidFill>
                <a:latin typeface="Inter"/>
              </a:defRPr>
            </a:pPr>
            <a:r>
              <a:t>•  Synthesizes plain-English rationale for each candidate chosen</a:t>
            </a:r>
          </a:p>
          <a:p>
            <a:pPr>
              <a:defRPr sz="1200">
                <a:solidFill>
                  <a:srgbClr val="E2E8F0"/>
                </a:solidFill>
                <a:latin typeface="Inter"/>
              </a:defRPr>
            </a:pPr>
            <a:r>
              <a:t>•  Explains trade-offs between cost savings and senior experience</a:t>
            </a:r>
          </a:p>
          <a:p>
            <a:pPr>
              <a:defRPr sz="1200">
                <a:solidFill>
                  <a:srgbClr val="E2E8F0"/>
                </a:solidFill>
                <a:latin typeface="Inter"/>
              </a:defRPr>
            </a:pPr>
            <a:r>
              <a:t>•  Assists organizer with NLP brief parameter extraction</a:t>
            </a:r>
          </a:p>
          <a:p>
            <a:pPr>
              <a:defRPr sz="1200">
                <a:solidFill>
                  <a:srgbClr val="E2E8F0"/>
                </a:solidFill>
                <a:latin typeface="Inter"/>
              </a:defRPr>
            </a:pPr>
            <a:r>
              <a:t>•  Securely isolated server-side inside Supabase Edge Function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"/>
            <a:ext cx="1005840" cy="329184"/>
          </a:xfrm>
          <a:prstGeom prst="round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Inter"/>
              </a:defRPr>
            </a:pPr>
            <a:r>
              <a:t>MIT India Hackathon 2026 · Problem Statement: PSE15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28016"/>
            <a:ext cx="82296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1F34"/>
                </a:solidFill>
                <a:latin typeface="Consolas"/>
              </a:defRPr>
            </a:pPr>
            <a:r>
              <a:t>BUDGET ALLOCATION &amp; PERMUTATIONS</a:t>
            </a:r>
          </a:p>
          <a:p>
            <a:pPr>
              <a:defRPr sz="3200" b="1">
                <a:solidFill>
                  <a:srgbClr val="0F172A"/>
                </a:solidFill>
                <a:latin typeface="Inter"/>
              </a:defRPr>
            </a:pPr>
            <a:r>
              <a:t>The crew must fit the budget.</a:t>
            </a:r>
          </a:p>
          <a:p>
            <a:pPr>
              <a:defRPr sz="1600">
                <a:solidFill>
                  <a:srgbClr val="475569"/>
                </a:solidFill>
                <a:latin typeface="Inter"/>
              </a:defRPr>
            </a:pPr>
            <a:r>
              <a:t>Organizers can compare different valid crews before deciding.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32918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000" b="1">
                <a:solidFill>
                  <a:srgbClr val="A31F34"/>
                </a:solidFill>
                <a:latin typeface="Consolas"/>
              </a:defRPr>
            </a:pPr>
            <a:r>
              <a:t>OPTION 1 · BALANCED FIT</a:t>
            </a:r>
          </a:p>
          <a:p>
            <a:pPr>
              <a:defRPr sz="3200" b="1">
                <a:solidFill>
                  <a:srgbClr val="0F172A"/>
                </a:solidFill>
                <a:latin typeface="Inter"/>
              </a:defRPr>
            </a:pPr>
            <a:r>
              <a:t>₹94,000</a:t>
            </a:r>
          </a:p>
          <a:p>
            <a:pPr>
              <a:defRPr sz="1300" b="1">
                <a:solidFill>
                  <a:srgbClr val="A31F34"/>
                </a:solidFill>
                <a:latin typeface="Inter"/>
              </a:defRPr>
            </a:pPr>
            <a:r>
              <a:t>92% Match Score</a:t>
            </a:r>
          </a:p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Highest multi-factor balance across skills, reliability, and proximity. Saves ₹6,000 under budget.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3291840" cy="109728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2286000"/>
            <a:ext cx="32918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OPTION 2 · COST SAVER</a:t>
            </a:r>
          </a:p>
          <a:p>
            <a:pPr>
              <a:defRPr sz="3200" b="1">
                <a:solidFill>
                  <a:srgbClr val="0F172A"/>
                </a:solidFill>
                <a:latin typeface="Inter"/>
              </a:defRPr>
            </a:pPr>
            <a:r>
              <a:t>₹84,000</a:t>
            </a:r>
          </a:p>
          <a:p>
            <a:pPr>
              <a:defRPr sz="1300" b="1">
                <a:solidFill>
                  <a:srgbClr val="D97706"/>
                </a:solidFill>
                <a:latin typeface="Inter"/>
              </a:defRPr>
            </a:pPr>
            <a:r>
              <a:t>85% Match Score</a:t>
            </a:r>
          </a:p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Prioritizes competitive rate bids while meeting all core role requirements. Saves ₹16,000 under budget.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286000"/>
            <a:ext cx="329184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2286000"/>
            <a:ext cx="32918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000" b="1">
                <a:solidFill>
                  <a:srgbClr val="436D4F"/>
                </a:solidFill>
                <a:latin typeface="Consolas"/>
              </a:defRPr>
            </a:pPr>
            <a:r>
              <a:t>OPTION 3 · TOP RELIABILITY</a:t>
            </a:r>
          </a:p>
          <a:p>
            <a:pPr>
              <a:defRPr sz="3200" b="1">
                <a:solidFill>
                  <a:srgbClr val="0F172A"/>
                </a:solidFill>
                <a:latin typeface="Inter"/>
              </a:defRPr>
            </a:pPr>
            <a:r>
              <a:t>₹98,500</a:t>
            </a:r>
          </a:p>
          <a:p>
            <a:pPr>
              <a:defRPr sz="1300" b="1">
                <a:solidFill>
                  <a:srgbClr val="436D4F"/>
                </a:solidFill>
                <a:latin typeface="Inter"/>
              </a:defRPr>
            </a:pPr>
            <a:r>
              <a:t>96% Reliability Avg</a:t>
            </a:r>
          </a:p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t>Selects top-rated 98%+ reliability crew members for mission-critical keynotes and VIP stages.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3291840" cy="109728"/>
          </a:xfrm>
          <a:prstGeom prst="rect">
            <a:avLst/>
          </a:prstGeom>
          <a:solidFill>
            <a:srgbClr val="436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3771" cy="4572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"/>
            <a:ext cx="1005840" cy="329184"/>
          </a:xfrm>
          <a:prstGeom prst="round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Inter"/>
              </a:defRPr>
            </a:pPr>
            <a:r>
              <a:t>MIT India Hackathon 2026 · Problem Statement: PSE15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28016"/>
            <a:ext cx="82296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1F34"/>
                </a:solidFill>
                <a:latin typeface="Consolas"/>
              </a:defRPr>
            </a:pPr>
            <a:r>
              <a:t>WORKING PRODUCT EVIDENCE</a:t>
            </a:r>
          </a:p>
          <a:p>
            <a:pPr>
              <a:defRPr sz="3200" b="1">
                <a:solidFill>
                  <a:srgbClr val="0F172A"/>
                </a:solidFill>
                <a:latin typeface="Inter"/>
              </a:defRPr>
            </a:pPr>
            <a:r>
              <a:t>From brief to confirmed crew.</a:t>
            </a:r>
          </a:p>
          <a:p>
            <a:pPr>
              <a:defRPr sz="1600">
                <a:solidFill>
                  <a:srgbClr val="475569"/>
                </a:solidFill>
                <a:latin typeface="Inter"/>
              </a:defRPr>
            </a:pPr>
            <a:r>
              <a:t>Real working screens from the running MUSTER Flutter application.</a:t>
            </a:r>
          </a:p>
        </p:txBody>
      </p:sp>
      <p:pic>
        <p:nvPicPr>
          <p:cNvPr id="9" name="Picture 8" descr="02_organiz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2468880" cy="3291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14400" y="5669280"/>
            <a:ext cx="246888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1. Active Dashboard</a:t>
            </a:r>
          </a:p>
        </p:txBody>
      </p:sp>
      <p:pic>
        <p:nvPicPr>
          <p:cNvPr id="11" name="Picture 10" descr="03_apply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286000"/>
            <a:ext cx="2468880" cy="32918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566160" y="5669280"/>
            <a:ext cx="246888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2. Applicant Pool</a:t>
            </a:r>
          </a:p>
        </p:txBody>
      </p:sp>
      <p:pic>
        <p:nvPicPr>
          <p:cNvPr id="13" name="Picture 12" descr="05_solver_recommen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286000"/>
            <a:ext cx="2468880" cy="32918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17920" y="5669280"/>
            <a:ext cx="246888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3. AI Optimizer Modal</a:t>
            </a:r>
          </a:p>
        </p:txBody>
      </p:sp>
      <p:pic>
        <p:nvPicPr>
          <p:cNvPr id="15" name="Picture 14" descr="06_final_cr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2286000"/>
            <a:ext cx="2468880" cy="32918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869680" y="5669280"/>
            <a:ext cx="246888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4. Confirmed Crew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"/>
            <a:ext cx="1005840" cy="329184"/>
          </a:xfrm>
          <a:prstGeom prst="round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Inter"/>
              </a:defRPr>
            </a:pPr>
            <a:r>
              <a:t>MIT India Hackathon 2026 · Problem Statement: PSE15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28016"/>
            <a:ext cx="82296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onsolas"/>
              </a:defRPr>
            </a:pPr>
            <a:r>
              <a:t>SYSTEM ARCHITECTURE</a:t>
            </a:r>
          </a:p>
          <a:p>
            <a:pPr>
              <a:defRPr sz="3200" b="1">
                <a:solidFill>
                  <a:srgbClr val="FFFFFF"/>
                </a:solidFill>
                <a:latin typeface="Inter"/>
              </a:defRPr>
            </a:pPr>
            <a:r>
              <a:t>Built for Web, Android and iOS.</a:t>
            </a:r>
          </a:p>
          <a:p>
            <a:pPr>
              <a:defRPr sz="1600">
                <a:solidFill>
                  <a:srgbClr val="CBD5E1"/>
                </a:solidFill>
                <a:latin typeface="Inter"/>
              </a:defRPr>
            </a:pPr>
            <a:r>
              <a:t>Clean cross-platform client talking to Supabase and Gemini Edge Functions.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24688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000" b="1">
                <a:solidFill>
                  <a:srgbClr val="60A5FA"/>
                </a:solidFill>
                <a:latin typeface="Consolas"/>
              </a:defRPr>
            </a:pPr>
            <a:r>
              <a:t>FRONTEND CLIENT</a:t>
            </a:r>
          </a:p>
          <a:p>
            <a:pPr>
              <a:defRPr sz="1500" b="1">
                <a:solidFill>
                  <a:srgbClr val="FFFFFF"/>
                </a:solidFill>
                <a:latin typeface="Inter"/>
              </a:defRPr>
            </a:pPr>
            <a:r>
              <a:t>Flutter (Web &amp; Mobile)</a:t>
            </a:r>
          </a:p>
          <a:p>
            <a:pPr>
              <a:defRPr sz="1100">
                <a:solidFill>
                  <a:srgbClr val="CBD5E1"/>
                </a:solidFill>
                <a:latin typeface="Inter"/>
              </a:defRPr>
            </a:pPr>
            <a:r>
              <a:t>Single responsive codebase with Riverpod state management and Lucide vector icons.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2468880" cy="10972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286000"/>
            <a:ext cx="24688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000" b="1">
                <a:solidFill>
                  <a:srgbClr val="34D399"/>
                </a:solidFill>
                <a:latin typeface="Consolas"/>
              </a:defRPr>
            </a:pPr>
            <a:r>
              <a:t>BACKEND ENGINE</a:t>
            </a:r>
          </a:p>
          <a:p>
            <a:pPr>
              <a:defRPr sz="1500" b="1">
                <a:solidFill>
                  <a:srgbClr val="FFFFFF"/>
                </a:solidFill>
                <a:latin typeface="Inter"/>
              </a:defRPr>
            </a:pPr>
            <a:r>
              <a:t>Supabase PostgreSQL</a:t>
            </a:r>
          </a:p>
          <a:p>
            <a:pPr>
              <a:defRPr sz="1100">
                <a:solidFill>
                  <a:srgbClr val="CBD5E1"/>
                </a:solidFill>
                <a:latin typeface="Inter"/>
              </a:defRPr>
            </a:pPr>
            <a:r>
              <a:t>13 relational tables with Row Level Security (RLS) and real-time pub/sub subscriptions.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286000"/>
            <a:ext cx="246888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4688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EDGE FUNCTION</a:t>
            </a:r>
          </a:p>
          <a:p>
            <a:pPr>
              <a:defRPr sz="1500" b="1">
                <a:solidFill>
                  <a:srgbClr val="FFFFFF"/>
                </a:solidFill>
                <a:latin typeface="Inter"/>
              </a:defRPr>
            </a:pPr>
            <a:r>
              <a:t>Deno Edge Runtime</a:t>
            </a:r>
          </a:p>
          <a:p>
            <a:pPr>
              <a:defRPr sz="1100">
                <a:solidFill>
                  <a:srgbClr val="CBD5E1"/>
                </a:solidFill>
                <a:latin typeface="Inter"/>
              </a:defRPr>
            </a:pPr>
            <a:r>
              <a:t>Server-side function `muster-ai` coordinates with Gemini without exposing API keys.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4688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80" y="2286000"/>
            <a:ext cx="2468880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000" b="1">
                <a:solidFill>
                  <a:srgbClr val="F472B6"/>
                </a:solidFill>
                <a:latin typeface="Consolas"/>
              </a:defRPr>
            </a:pPr>
            <a:r>
              <a:t>AI LAYER</a:t>
            </a:r>
          </a:p>
          <a:p>
            <a:pPr>
              <a:defRPr sz="1500" b="1">
                <a:solidFill>
                  <a:srgbClr val="FFFFFF"/>
                </a:solidFill>
                <a:latin typeface="Inter"/>
              </a:defRPr>
            </a:pPr>
            <a:r>
              <a:t>Google Gemini 3.6 Flash</a:t>
            </a:r>
          </a:p>
          <a:p>
            <a:pPr>
              <a:defRPr sz="1100">
                <a:solidFill>
                  <a:srgbClr val="CBD5E1"/>
                </a:solidFill>
                <a:latin typeface="Inter"/>
              </a:defRPr>
            </a:pPr>
            <a:r>
              <a:t>Generates natural language requirement parsing and transparent hiring explanations.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2286000"/>
            <a:ext cx="2468880" cy="10972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175720" cy="4572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"/>
            <a:ext cx="1005840" cy="329184"/>
          </a:xfrm>
          <a:prstGeom prst="round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Inter"/>
              </a:defRPr>
            </a:pPr>
            <a:r>
              <a:t>MIT India Hackathon 2026 · Problem Statement: PSE15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28016"/>
            <a:ext cx="82296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31F34"/>
                </a:solidFill>
                <a:latin typeface="Consolas"/>
              </a:defRPr>
            </a:pPr>
            <a:r>
              <a:t>KEY ADVANTAGES</a:t>
            </a:r>
          </a:p>
          <a:p>
            <a:pPr>
              <a:defRPr sz="3200" b="1">
                <a:solidFill>
                  <a:srgbClr val="0F172A"/>
                </a:solidFill>
                <a:latin typeface="Inter"/>
              </a:defRPr>
            </a:pPr>
            <a:r>
              <a:t>Why MUSTER.</a:t>
            </a:r>
          </a:p>
          <a:p>
            <a:pPr>
              <a:defRPr sz="1600">
                <a:solidFill>
                  <a:srgbClr val="475569"/>
                </a:solidFill>
                <a:latin typeface="Inter"/>
              </a:defRPr>
            </a:pPr>
            <a:r>
              <a:t>Built to solve the operational realities of live event staffing.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800" b="1">
                <a:solidFill>
                  <a:srgbClr val="A31F34"/>
                </a:solidFill>
                <a:latin typeface="Inter"/>
              </a:defRPr>
            </a:pPr>
            <a:r>
              <a:t>Constraint-aware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Strictly works within real event requirements, transit limits, and budget caps.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137160" cy="182880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228600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800" b="1">
                <a:solidFill>
                  <a:srgbClr val="D97706"/>
                </a:solidFill>
                <a:latin typeface="Inter"/>
              </a:defRPr>
            </a:pPr>
            <a:r>
              <a:t>Explainable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Shows clear natural-language reasons why candidates were chosen for each shift.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286000"/>
            <a:ext cx="137160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29768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800" b="1">
                <a:solidFill>
                  <a:srgbClr val="436D4F"/>
                </a:solidFill>
                <a:latin typeface="Inter"/>
              </a:defRPr>
            </a:pPr>
            <a:r>
              <a:t>Human-controlled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AI recommends options and highlights trade-offs; the organizer always decides.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97680"/>
            <a:ext cx="137160" cy="1828800"/>
          </a:xfrm>
          <a:prstGeom prst="rect">
            <a:avLst/>
          </a:prstGeom>
          <a:solidFill>
            <a:srgbClr val="436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29768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800" b="1">
                <a:solidFill>
                  <a:srgbClr val="334155"/>
                </a:solidFill>
                <a:latin typeface="Inter"/>
              </a:defRPr>
            </a:pPr>
            <a:r>
              <a:t>Cross-platform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t>One clean codebase deployable immediately to Web, Android phones, and iOS devices.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297680"/>
            <a:ext cx="137160" cy="1828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"/>
            <a:ext cx="1005840" cy="329184"/>
          </a:xfrm>
          <a:prstGeom prst="roundRect">
            <a:avLst/>
          </a:prstGeom>
          <a:solidFill>
            <a:srgbClr val="A3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972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  <a:latin typeface="Inter"/>
              </a:defRPr>
            </a:pPr>
            <a:r>
              <a:t>MIT India Hackathon 2026 · Problem Statement: PSE15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128016"/>
            <a:ext cx="82296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  <a:latin typeface="Consolas"/>
              </a:defRPr>
            </a:pPr>
            <a:r>
              <a:t>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601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Consolas"/>
              </a:defRPr>
            </a:pPr>
            <a:r>
              <a:t>MIT INDIA HACKATHON 2026 · PSE15</a:t>
            </a:r>
          </a:p>
          <a:p>
            <a:pPr>
              <a:defRPr sz="4800" b="1">
                <a:solidFill>
                  <a:srgbClr val="FFFFFF"/>
                </a:solidFill>
                <a:latin typeface="Inter"/>
              </a:defRPr>
            </a:pPr>
            <a:r>
              <a:t>From applicants</a:t>
            </a:r>
            <a:br/>
            <a:r>
              <a:t>to the right crew.</a:t>
            </a:r>
          </a:p>
          <a:p>
            <a:pPr>
              <a:defRPr sz="2000">
                <a:solidFill>
                  <a:srgbClr val="CBD5E1"/>
                </a:solidFill>
                <a:latin typeface="Inter"/>
              </a:defRPr>
            </a:pPr>
            <a:r>
              <a:t>MUSTER · AI-Powered Crew Assembly for Event Staffing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931920"/>
            <a:ext cx="9601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365760"/>
          <a:lstStyle/>
          <a:p>
            <a:pPr algn="ctr">
              <a:defRPr sz="1200" b="1">
                <a:solidFill>
                  <a:srgbClr val="D97706"/>
                </a:solidFill>
                <a:latin typeface="Consolas"/>
              </a:defRPr>
            </a:pPr>
            <a:r>
              <a:t>VERIFIED PRODUCTION DELIVERABLES</a:t>
            </a:r>
          </a:p>
          <a:p>
            <a:pPr>
              <a:defRPr sz="1100">
                <a:solidFill>
                  <a:srgbClr val="E2E8F0"/>
                </a:solidFill>
                <a:latin typeface="Inter"/>
              </a:defRPr>
            </a:pPr>
            <a:r>
              <a:t>•  Web Application Live Build: Vercel SPA Deployment (build/web)</a:t>
            </a:r>
          </a:p>
          <a:p>
            <a:pPr>
              <a:defRPr sz="1100">
                <a:solidFill>
                  <a:srgbClr val="E2E8F0"/>
                </a:solidFill>
                <a:latin typeface="Inter"/>
              </a:defRPr>
            </a:pPr>
            <a:r>
              <a:t>•  Android Release Binary: APK/MUSTER-v1.0.apk (57.1 MB) with native network access</a:t>
            </a:r>
          </a:p>
          <a:p>
            <a:pPr>
              <a:defRPr sz="1100">
                <a:solidFill>
                  <a:srgbClr val="E2E8F0"/>
                </a:solidFill>
                <a:latin typeface="Inter"/>
              </a:defRPr>
            </a:pPr>
            <a:r>
              <a:t>•  Supabase Cloud Backend: 13 Relational Tables + RLS + Deno Gemini Edge Function</a:t>
            </a:r>
          </a:p>
          <a:p>
            <a:pPr>
              <a:defRPr sz="1100">
                <a:solidFill>
                  <a:srgbClr val="E2E8F0"/>
                </a:solidFill>
                <a:latin typeface="Inter"/>
              </a:defRPr>
            </a:pPr>
            <a:r>
              <a:t>•  Source Code Repository: https://github.com/parikshitkurel/muster.git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